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5" d="100"/>
          <a:sy n="15" d="100"/>
        </p:scale>
        <p:origin x="473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E9956D-1480-C6E8-0CEC-8050CDF6A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6E70956-D3D3-3DA1-3300-654E2E19D6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3563E8-E1A7-81DB-6733-0B9866AB7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037DF-F18C-4C09-AD05-022B1CE144C3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38FE11-709D-95BF-238E-7E59EE508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3D2F54-6636-B4AB-E7B8-76BC20A41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C51C9-1C1F-40B8-993D-178A4A8DEF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5662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C5D3BC-6F1C-49A4-27D7-A60829BDB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4A30B4-BBB9-B425-236A-CCC0CC9D8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1F87BC-F3FB-1D49-A1B3-725D0818F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037DF-F18C-4C09-AD05-022B1CE144C3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C707A1-D5CB-5493-3719-B9B2BF3AE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1FA0FE-C50A-DEC9-1949-26A70D522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C51C9-1C1F-40B8-993D-178A4A8DEF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0180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B25DA0-C305-3EDD-6A0D-EA92A7880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F4BBCFD-1B22-2E82-BFE7-78082E950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00F4D2-7A0E-CDE4-B368-04C5AC040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037DF-F18C-4C09-AD05-022B1CE144C3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757853-AE8A-FD64-6070-301EE5E2A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3A5C89-63AD-163E-F286-9B787622B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C51C9-1C1F-40B8-993D-178A4A8DEF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6907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98DCC4-F848-F14F-F7B0-4CE81F969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24D9DF-7566-BB30-4C33-0929806353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6E96644-ED8D-2A12-D6AB-356F36AB6A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C344EC-1B31-6738-7203-F20C74349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037DF-F18C-4C09-AD05-022B1CE144C3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C8BE598-5D2A-414B-EFBC-E9B3F5A3E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8DE510-AB8C-4DF7-0DD4-D240DD6D0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C51C9-1C1F-40B8-993D-178A4A8DEF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1943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DDA944-F174-C3E3-2BDE-C45C34951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9678DB-AEAE-2E3F-2EBF-85B93485B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DA84512-280D-AD3B-2B5E-D76CFE8427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579E593-D44C-AB33-F8FA-A3EE3C0376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5141154-24B9-2878-E68B-0D116FEC31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D505570-FA45-5797-923F-404620F66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037DF-F18C-4C09-AD05-022B1CE144C3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AD5BAF3-823A-40A5-B17B-66FDF861E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6F7BD8B-02EE-9BA8-25FB-121443275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C51C9-1C1F-40B8-993D-178A4A8DEF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343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4BF30E-C90A-BBBD-3BA1-683DC6967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DDE1C26-B409-008C-48A1-8D4D14643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037DF-F18C-4C09-AD05-022B1CE144C3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4243CA5-A34D-3676-66DF-8108EB1FA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55CF070-31A0-DBE0-F0D0-404CD931A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C51C9-1C1F-40B8-993D-178A4A8DEF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926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42526E7-6617-89DA-8040-A4A1787F5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037DF-F18C-4C09-AD05-022B1CE144C3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49D61C2-41E2-F979-2150-3C59B80EF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FD897E-F732-2188-09EF-005F2750B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C51C9-1C1F-40B8-993D-178A4A8DEF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9892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16A0E8-51C5-E87C-28D6-6C932B441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F46F3B-BCDA-BA8C-6963-9DF596361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F929F2-A8DC-94F0-BAC1-9373017B6E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30FADC3-8AC0-E29B-8BDB-12A75949E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037DF-F18C-4C09-AD05-022B1CE144C3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38ED911-619A-2350-FECF-35686429B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930E532-4C9B-44EB-B5F2-69E574AEB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C51C9-1C1F-40B8-993D-178A4A8DEF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1239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E4DD8D-D5D4-A7CC-704D-313F5E64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DB1FCC7-20EA-7824-ED01-917F77AC24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AC380F-8C3D-EE3C-8CDE-EC01FEBC84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CA54D2-5EAE-3080-2E27-A91FE0AD9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037DF-F18C-4C09-AD05-022B1CE144C3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F0F054-0A21-1822-4DFB-21D1BDB37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69E9E1-714D-6BFA-8753-2D48752AD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C51C9-1C1F-40B8-993D-178A4A8DEF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209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547558-FA77-4557-6DA5-B7F998DD1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D0B06CB-C4DE-8CAC-9F00-4F7E450DFC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9F9F3C-20D2-6890-E599-8933EF531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037DF-F18C-4C09-AD05-022B1CE144C3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6EBE8F-F783-0B76-6D73-A97CCAEB8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BD9569-F6D0-D679-624D-BC0023DD7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C51C9-1C1F-40B8-993D-178A4A8DEF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551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552A649-627D-115C-4AB5-CB1A331567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6D50BF-D7D2-A695-6C33-1ED3D4A48F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9977C3-888D-6524-46AD-EE922B3BC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037DF-F18C-4C09-AD05-022B1CE144C3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9D9303-1905-6281-3E84-68D40DEEF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0D37C7-3040-ADB8-D89C-542B5209A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C51C9-1C1F-40B8-993D-178A4A8DEF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145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DC67FF1-2A6E-B3BC-F8BA-2DE519DF4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D7AB-463B-5851-9013-E2991A8E3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E29059-3A4D-BFAC-2FA9-91E92A7461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1037DF-F18C-4C09-AD05-022B1CE144C3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9B217B-51C1-9200-ACA3-F0B07995FD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CAAD2E-A26D-758B-F39A-2AFBA6108F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6C51C9-1C1F-40B8-993D-178A4A8DEF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252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liu.english.ucsb.edu/humanities-definitions-research-project-an-experiment-with-agentic-ai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0B5BD5-8EBF-5426-516B-8F3E8FA4E2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LLM</a:t>
            </a:r>
            <a:r>
              <a:rPr lang="ko-KR" altLang="en-US" dirty="0"/>
              <a:t> </a:t>
            </a:r>
            <a:r>
              <a:rPr lang="en-US" altLang="ko-KR" dirty="0"/>
              <a:t>Wiki</a:t>
            </a:r>
            <a:r>
              <a:rPr lang="ko-KR" altLang="en-US" dirty="0"/>
              <a:t> 기록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14ECE2D-7ECD-C7CF-7A65-00924ABF84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5065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F1BF69-2671-E8AE-4D74-20CDC475C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280119-2005-0070-B7F1-124E54E4C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75D4C50-68CF-7DB0-7444-6030318B5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856" y="0"/>
            <a:ext cx="7884541" cy="62894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599A50-A4E5-B0E8-EFF4-7A7F477E8A78}"/>
              </a:ext>
            </a:extLst>
          </p:cNvPr>
          <p:cNvSpPr txBox="1"/>
          <p:nvPr/>
        </p:nvSpPr>
        <p:spPr>
          <a:xfrm>
            <a:off x="1757538" y="6336894"/>
            <a:ext cx="94357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https://www.genspark.ai/agents?id=6b14de66-3db2-458a-a24e-68197c15eca9</a:t>
            </a:r>
          </a:p>
        </p:txBody>
      </p:sp>
    </p:spTree>
    <p:extLst>
      <p:ext uri="{BB962C8B-B14F-4D97-AF65-F5344CB8AC3E}">
        <p14:creationId xmlns:p14="http://schemas.microsoft.com/office/powerpoint/2010/main" val="3371003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CD0736-99CF-C1CC-056B-9E78773DC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3100" b="1" dirty="0"/>
              <a:t>4-1. </a:t>
            </a:r>
            <a:r>
              <a:rPr lang="en-US" altLang="ko-KR" sz="3100" b="1" dirty="0">
                <a:hlinkClick r:id="rId2"/>
              </a:rPr>
              <a:t>Alan Liu</a:t>
            </a:r>
            <a:r>
              <a:rPr lang="ko-KR" altLang="en-US" sz="3100" b="1" dirty="0">
                <a:hlinkClick r:id="rId2"/>
              </a:rPr>
              <a:t>의 “</a:t>
            </a:r>
            <a:r>
              <a:rPr lang="en-US" altLang="ko-KR" sz="3100" b="1" dirty="0">
                <a:hlinkClick r:id="rId2"/>
              </a:rPr>
              <a:t>Humanities Definitions Research Project”</a:t>
            </a:r>
            <a:r>
              <a:rPr lang="en-US" altLang="ko-KR" sz="3100" b="1" dirty="0"/>
              <a:t>: </a:t>
            </a:r>
            <a:r>
              <a:rPr lang="ko-KR" altLang="en-US" sz="3100" b="1" dirty="0"/>
              <a:t>인문학 연구에 에이전트를 본격 투입한 사례</a:t>
            </a:r>
            <a:br>
              <a:rPr lang="ko-KR" altLang="en-US" b="1" dirty="0"/>
            </a:b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D73877-78DF-8DDB-BEF4-DBA6C12D9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ko-KR" altLang="en-US" dirty="0"/>
              <a:t>이 프로젝트는 문학 텍스트 해석 자체보다는</a:t>
            </a:r>
            <a:r>
              <a:rPr lang="en-US" altLang="ko-KR" dirty="0"/>
              <a:t>, </a:t>
            </a:r>
            <a:r>
              <a:rPr lang="ko-KR" altLang="en-US" b="1" dirty="0"/>
              <a:t>“인문학이란 </a:t>
            </a:r>
            <a:r>
              <a:rPr lang="ko-KR" altLang="en-US" b="1" dirty="0" err="1"/>
              <a:t>무엇인가”에</a:t>
            </a:r>
            <a:r>
              <a:rPr lang="ko-KR" altLang="en-US" b="1" dirty="0"/>
              <a:t> 대한 정의와 진술을 웹</a:t>
            </a:r>
            <a:r>
              <a:rPr lang="en-US" altLang="ko-KR" b="1" dirty="0"/>
              <a:t>·</a:t>
            </a:r>
            <a:r>
              <a:rPr lang="ko-KR" altLang="en-US" b="1" dirty="0"/>
              <a:t>학술</a:t>
            </a:r>
            <a:r>
              <a:rPr lang="en-US" altLang="ko-KR" b="1" dirty="0"/>
              <a:t>DB·</a:t>
            </a:r>
            <a:r>
              <a:rPr lang="ko-KR" altLang="en-US" b="1" dirty="0"/>
              <a:t>기관 자료에서 대규모로 수집</a:t>
            </a:r>
            <a:r>
              <a:rPr lang="en-US" altLang="ko-KR" b="1" dirty="0"/>
              <a:t>·</a:t>
            </a:r>
            <a:r>
              <a:rPr lang="ko-KR" altLang="en-US" b="1" dirty="0"/>
              <a:t>정리</a:t>
            </a:r>
            <a:r>
              <a:rPr lang="ko-KR" altLang="en-US" dirty="0"/>
              <a:t>하는 실험입니다</a:t>
            </a:r>
            <a:r>
              <a:rPr lang="en-US" altLang="ko-KR" dirty="0"/>
              <a:t>. </a:t>
            </a:r>
            <a:r>
              <a:rPr lang="ko-KR" altLang="en-US" dirty="0"/>
              <a:t>중요한 점은 단순 요약이 아니라</a:t>
            </a:r>
            <a:r>
              <a:rPr lang="en-US" altLang="ko-KR" dirty="0"/>
              <a:t>, </a:t>
            </a:r>
            <a:r>
              <a:rPr lang="ko-KR" altLang="en-US" dirty="0"/>
              <a:t>에이전트가 </a:t>
            </a:r>
            <a:r>
              <a:rPr lang="ko-KR" altLang="en-US" b="1" dirty="0"/>
              <a:t>검색 계획을 세우고</a:t>
            </a:r>
            <a:r>
              <a:rPr lang="en-US" altLang="ko-KR" b="1" dirty="0"/>
              <a:t>, </a:t>
            </a:r>
            <a:r>
              <a:rPr lang="ko-KR" altLang="en-US" b="1" dirty="0"/>
              <a:t>후속 탐색을 결정하고</a:t>
            </a:r>
            <a:r>
              <a:rPr lang="en-US" altLang="ko-KR" b="1" dirty="0"/>
              <a:t>, </a:t>
            </a:r>
            <a:r>
              <a:rPr lang="ko-KR" altLang="en-US" b="1" dirty="0"/>
              <a:t>자료를 구조화된 스프레드시트로 정리</a:t>
            </a:r>
            <a:r>
              <a:rPr lang="ko-KR" altLang="en-US" dirty="0"/>
              <a:t>했다는 것입니다</a:t>
            </a:r>
            <a:r>
              <a:rPr lang="en-US" altLang="ko-KR" dirty="0"/>
              <a:t>. </a:t>
            </a:r>
            <a:r>
              <a:rPr lang="ko-KR" altLang="en-US" dirty="0"/>
              <a:t>문학연구에 그대로 옮기면</a:t>
            </a:r>
            <a:r>
              <a:rPr lang="en-US" altLang="ko-KR" dirty="0"/>
              <a:t>, </a:t>
            </a:r>
            <a:r>
              <a:rPr lang="ko-KR" altLang="en-US" dirty="0"/>
              <a:t>예컨대 “비극 개념의 변천”</a:t>
            </a:r>
            <a:r>
              <a:rPr lang="en-US" altLang="ko-KR" dirty="0"/>
              <a:t>, “</a:t>
            </a:r>
            <a:r>
              <a:rPr lang="ko-KR" altLang="en-US" dirty="0"/>
              <a:t>세계문학 정의의 사상사”</a:t>
            </a:r>
            <a:r>
              <a:rPr lang="en-US" altLang="ko-KR" dirty="0"/>
              <a:t>, “Austen </a:t>
            </a:r>
            <a:r>
              <a:rPr lang="ko-KR" altLang="en-US" dirty="0"/>
              <a:t>수용사에서의 핵심 논점” 같은 주제를 자동 수집</a:t>
            </a:r>
            <a:r>
              <a:rPr lang="en-US" altLang="ko-KR" dirty="0"/>
              <a:t>·</a:t>
            </a:r>
            <a:r>
              <a:rPr lang="ko-KR" altLang="en-US" dirty="0" err="1"/>
              <a:t>구조화하는</a:t>
            </a:r>
            <a:r>
              <a:rPr lang="ko-KR" altLang="en-US" dirty="0"/>
              <a:t> 연구 설계가 가능합니다</a:t>
            </a:r>
            <a:r>
              <a:rPr lang="en-US" altLang="ko-KR" dirty="0"/>
              <a:t>. </a:t>
            </a:r>
            <a:r>
              <a:rPr lang="en-US" altLang="ko-KR" dirty="0">
                <a:hlinkClick r:id="rId2"/>
              </a:rPr>
              <a:t>Alan Liu's Website (University of California, Santa Barbara)</a:t>
            </a:r>
            <a:endParaRPr lang="ko-KR" altLang="en-US" dirty="0"/>
          </a:p>
          <a:p>
            <a:r>
              <a:rPr lang="ko-KR" altLang="en-US" dirty="0"/>
              <a:t>동시에 </a:t>
            </a:r>
            <a:r>
              <a:rPr lang="en-US" altLang="ko-KR" dirty="0"/>
              <a:t>Liu</a:t>
            </a:r>
            <a:r>
              <a:rPr lang="ko-KR" altLang="en-US" dirty="0"/>
              <a:t>는 매우 중요한 경고를 남깁니다</a:t>
            </a:r>
            <a:r>
              <a:rPr lang="en-US" altLang="ko-KR" dirty="0"/>
              <a:t>. </a:t>
            </a:r>
            <a:r>
              <a:rPr lang="ko-KR" altLang="en-US" dirty="0"/>
              <a:t>에이전트는 </a:t>
            </a:r>
            <a:r>
              <a:rPr lang="ko-KR" altLang="en-US" b="1" dirty="0"/>
              <a:t>직접 인용과 </a:t>
            </a:r>
            <a:r>
              <a:rPr lang="ko-KR" altLang="en-US" b="1" dirty="0" err="1"/>
              <a:t>패러프레이즈를</a:t>
            </a:r>
            <a:r>
              <a:rPr lang="ko-KR" altLang="en-US" b="1" dirty="0"/>
              <a:t> 뒤섞고</a:t>
            </a:r>
            <a:r>
              <a:rPr lang="en-US" altLang="ko-KR" dirty="0"/>
              <a:t>, </a:t>
            </a:r>
            <a:r>
              <a:rPr lang="ko-KR" altLang="en-US" b="1" dirty="0"/>
              <a:t>중첩 출처를 잘못 처리하며</a:t>
            </a:r>
            <a:r>
              <a:rPr lang="en-US" altLang="ko-KR" dirty="0"/>
              <a:t>, </a:t>
            </a:r>
            <a:r>
              <a:rPr lang="ko-KR" altLang="en-US" b="1" dirty="0"/>
              <a:t>일부 출처에 과도하게 몰리는 경향</a:t>
            </a:r>
            <a:r>
              <a:rPr lang="ko-KR" altLang="en-US" dirty="0"/>
              <a:t>을 보였습니다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인문학 연구에선 </a:t>
            </a:r>
            <a:r>
              <a:rPr lang="en-US" altLang="ko-KR" dirty="0"/>
              <a:t>AI </a:t>
            </a:r>
            <a:r>
              <a:rPr lang="ko-KR" altLang="en-US" dirty="0"/>
              <a:t>에이전트가 유용하더라도</a:t>
            </a:r>
            <a:r>
              <a:rPr lang="en-US" altLang="ko-KR" dirty="0"/>
              <a:t>, </a:t>
            </a:r>
            <a:r>
              <a:rPr lang="ko-KR" altLang="en-US" b="1" dirty="0"/>
              <a:t>출처 계보</a:t>
            </a:r>
            <a:r>
              <a:rPr lang="en-US" altLang="ko-KR" b="1" dirty="0"/>
              <a:t>(source lineage)</a:t>
            </a:r>
            <a:r>
              <a:rPr lang="ko-KR" altLang="en-US" dirty="0"/>
              <a:t> 와 </a:t>
            </a:r>
            <a:r>
              <a:rPr lang="ko-KR" altLang="en-US" b="1" dirty="0"/>
              <a:t>인용 정확성</a:t>
            </a:r>
            <a:r>
              <a:rPr lang="ko-KR" altLang="en-US" dirty="0"/>
              <a:t>을 사람 연구자가 끝까지 통제해야 한다는 점이 확인됩니다</a:t>
            </a:r>
            <a:r>
              <a:rPr lang="en-US" altLang="ko-KR" dirty="0"/>
              <a:t>. </a:t>
            </a:r>
            <a:r>
              <a:rPr lang="ko-KR" altLang="en-US" dirty="0"/>
              <a:t>이는 이후 </a:t>
            </a:r>
            <a:r>
              <a:rPr lang="en-US" altLang="ko-KR" dirty="0"/>
              <a:t>Claude </a:t>
            </a:r>
            <a:r>
              <a:rPr lang="en-US" altLang="ko-KR" dirty="0" err="1"/>
              <a:t>Code·Antigravity</a:t>
            </a:r>
            <a:r>
              <a:rPr lang="en-US" altLang="ko-KR" dirty="0"/>
              <a:t> </a:t>
            </a:r>
            <a:r>
              <a:rPr lang="ko-KR" altLang="en-US" dirty="0"/>
              <a:t>사례를 평가할 때도 핵심 기준이 됩니다</a:t>
            </a:r>
            <a:r>
              <a:rPr lang="en-US" altLang="ko-KR" dirty="0"/>
              <a:t>. </a:t>
            </a:r>
            <a:r>
              <a:rPr lang="en-US" altLang="ko-KR" dirty="0">
                <a:hlinkClick r:id="rId2"/>
              </a:rPr>
              <a:t>Alan Liu's Website (University of California, Santa Barbara)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3322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589048-827D-9262-826C-CDD8BC588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토큰의 정치경제학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C2D071-6083-B975-8647-241CD120E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21EA037-FA64-8A83-6E90-ADD7C6C09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861" y="1878668"/>
            <a:ext cx="6086779" cy="497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948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204</Words>
  <Application>Microsoft Office PowerPoint</Application>
  <PresentationFormat>와이드스크린</PresentationFormat>
  <Paragraphs>6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LLM Wiki 기록</vt:lpstr>
      <vt:lpstr>PowerPoint 프레젠테이션</vt:lpstr>
      <vt:lpstr>4-1. Alan Liu의 “Humanities Definitions Research Project”: 인문학 연구에 에이전트를 본격 투입한 사례 </vt:lpstr>
      <vt:lpstr>토큰의 정치경제학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노대원</dc:creator>
  <cp:lastModifiedBy>노대원</cp:lastModifiedBy>
  <cp:revision>2</cp:revision>
  <dcterms:created xsi:type="dcterms:W3CDTF">2026-05-13T11:54:22Z</dcterms:created>
  <dcterms:modified xsi:type="dcterms:W3CDTF">2026-05-23T14:30:04Z</dcterms:modified>
</cp:coreProperties>
</file>